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</a:t>
            </a:r>
            <a:r>
              <a:rPr lang="en-US" dirty="0" err="1"/>
              <a:t>erpAgroSmart</a:t>
            </a:r>
            <a:r>
              <a:rPr lang="en-US" dirty="0"/>
              <a:t> is an AI-powered ERP built by </a:t>
            </a:r>
            <a:r>
              <a:rPr lang="en-US" dirty="0" err="1"/>
              <a:t>Inodesain</a:t>
            </a:r>
            <a:r>
              <a:rPr lang="en-US" dirty="0"/>
              <a:t>, an IBM Business Partner, for the Indonesian palm oil industry.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Indonesia is the world's largest palm oil producer. Despite this, most estates manage operations on spreadsheets with no standards benchmarking and no AI advisory. This is exactly the gap </a:t>
            </a:r>
            <a:r>
              <a:rPr lang="en-US" dirty="0" err="1"/>
              <a:t>erpAgroSmart</a:t>
            </a:r>
            <a:r>
              <a:rPr lang="en-US" dirty="0"/>
              <a:t> fills.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erpAgroSmart</a:t>
            </a:r>
            <a:r>
              <a:rPr lang="en-US" dirty="0"/>
              <a:t> is built on a 5-level hierarchy mirroring how Indonesian estates are structured. Six modules cover the full operational chain. IBM Bob AI sits across all of them as the intelligence and compliance layer.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erpAgroSmart</a:t>
            </a:r>
            <a:r>
              <a:rPr lang="en-US" dirty="0"/>
              <a:t> embeds a machine-readable standards library with 50+ parameters across 10 categories. Every parameter has pass, warn, and fail thresholds from seven authoritative sources. This is what makes automated compliance scoring possible without any manual lookup.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every WARN or FAIL, Bob is called with a structured prompt: actual value, standard value, gap percentage, and category. It returns a standards-cited corrective recommendation. No model fine-tuning needed — structured prompt engineering grounded in Indonesian palm oil agronomy.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demo runs in 7 steps: login, dashboard with 3D charts, live harvest and mill data, GAPKI standards library, compliance analyzer scorecard, Bob AI recommendation trigger for a FAIL parameter, and SmartMap GIS. Steps 5 and 6 are the hackathon-specific features — focus time here.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differentiators set </a:t>
            </a:r>
            <a:r>
              <a:rPr lang="en-US" dirty="0" err="1"/>
              <a:t>erpAgroSmart</a:t>
            </a:r>
            <a:r>
              <a:rPr lang="en-US" dirty="0"/>
              <a:t> apart. Most plantation ERPs are data collection tools only. </a:t>
            </a:r>
            <a:r>
              <a:rPr lang="en-US" dirty="0" err="1"/>
              <a:t>erpAgroSmart</a:t>
            </a:r>
            <a:r>
              <a:rPr lang="en-US" dirty="0"/>
              <a:t> is a compliance advisory platform. The combination of embedded standards, full operational chain, IBM Bob intelligence, enterprise financials, and GIS is unique in the Indonesian market.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Inodesain</a:t>
            </a:r>
            <a:r>
              <a:rPr lang="en-US" dirty="0"/>
              <a:t> is an experienced IBM Business Partner with a proven track record: 2nd place at IBM Indonesia Linux Challenge 2016, and listed on the IBM Global Solution Directory in 2018. </a:t>
            </a:r>
            <a:r>
              <a:rPr lang="en-US" dirty="0" err="1"/>
              <a:t>erpAgroSmart</a:t>
            </a:r>
            <a:r>
              <a:rPr lang="en-US" dirty="0"/>
              <a:t> is a real operational system being upgraded with AI — not a prototype.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</a:t>
            </a:r>
            <a:r>
              <a:rPr lang="en-US" dirty="0" err="1"/>
              <a:t>erpAgroSmart</a:t>
            </a:r>
            <a:r>
              <a:rPr lang="en-US" dirty="0"/>
              <a:t> demonstrates that IBM Bob AI can power an entire industry vertical — automatically benchmarking every operational parameter against national standards and delivering grounded corrective recommendations. This is the future of plantation management in Indonesia.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Badge"/>
          <p:cNvSpPr txBox="1"/>
          <p:nvPr/>
        </p:nvSpPr>
        <p:spPr>
          <a:xfrm>
            <a:off x="3420000" y="432000"/>
            <a:ext cx="5040000" cy="324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200" b="1">
                <a:solidFill>
                  <a:srgbClr val="8BC34A"/>
                </a:solidFill>
              </a:rPr>
              <a:t>IBM BOB HACKATHON 2025</a:t>
            </a:r>
          </a:p>
        </p:txBody>
      </p:sp>
      <p:sp>
        <p:nvSpPr>
          <p:cNvPr id="100001" name="Title"/>
          <p:cNvSpPr txBox="1"/>
          <p:nvPr/>
        </p:nvSpPr>
        <p:spPr>
          <a:xfrm>
            <a:off x="1440000" y="900000"/>
            <a:ext cx="9000000" cy="108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5400" b="1" dirty="0" err="1">
                <a:solidFill>
                  <a:srgbClr val="FFFFFF"/>
                </a:solidFill>
              </a:rPr>
              <a:t>erpAgroSmart</a:t>
            </a:r>
            <a:endParaRPr lang="en-US" sz="5400" b="1" dirty="0">
              <a:solidFill>
                <a:srgbClr val="FFFFFF"/>
              </a:solidFill>
            </a:endParaRPr>
          </a:p>
        </p:txBody>
      </p:sp>
      <p:sp>
        <p:nvSpPr>
          <p:cNvPr id="100002" name="Subtitle"/>
          <p:cNvSpPr txBox="1"/>
          <p:nvPr/>
        </p:nvSpPr>
        <p:spPr>
          <a:xfrm>
            <a:off x="1440000" y="2160000"/>
            <a:ext cx="9000000" cy="504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400">
                <a:solidFill>
                  <a:srgbClr val="C8E6C9"/>
                </a:solidFill>
              </a:rPr>
              <a:t>AI-Powered Palm Oil Plantation Intelligence</a:t>
            </a:r>
          </a:p>
        </p:txBody>
      </p:sp>
      <p:sp>
        <p:nvSpPr>
          <p:cNvPr id="100003" name="Tagline"/>
          <p:cNvSpPr txBox="1"/>
          <p:nvPr/>
        </p:nvSpPr>
        <p:spPr>
          <a:xfrm>
            <a:off x="1440000" y="2808000"/>
            <a:ext cx="9000000" cy="324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400">
                <a:solidFill>
                  <a:srgbClr val="A5D6A7"/>
                </a:solidFill>
              </a:rPr>
              <a:t>GAPKI Compliant  |  Financially Transparent  |  Spatially Intelligent</a:t>
            </a:r>
          </a:p>
        </p:txBody>
      </p:sp>
      <p:sp>
        <p:nvSpPr>
          <p:cNvPr id="100004" name="Team"/>
          <p:cNvSpPr txBox="1"/>
          <p:nvPr/>
        </p:nvSpPr>
        <p:spPr>
          <a:xfrm>
            <a:off x="1440000" y="3312000"/>
            <a:ext cx="9000000" cy="324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300">
                <a:solidFill>
                  <a:srgbClr val="81C784"/>
                </a:solidFill>
              </a:rPr>
              <a:t>Inodesain  |  IBM Business Partner  |  Indonesia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5" name="TopBar"/>
          <p:cNvSpPr txBox="1"/>
          <p:nvPr/>
        </p:nvSpPr>
        <p:spPr>
          <a:xfrm>
            <a:off x="0" y="0"/>
            <a:ext cx="12193200" cy="252000"/>
          </a:xfrm>
          <a:prstGeom prst="rect">
            <a:avLst/>
          </a:prstGeom>
          <a:solidFill>
            <a:srgbClr val="1B5E20"/>
          </a:solidFill>
        </p:spPr>
        <p:txBody>
          <a:bodyPr/>
          <a:lstStyle/>
          <a:p>
            <a:endParaRPr lang="en-US">
              <a:solidFill>
                <a:srgbClr val="1B5E20"/>
              </a:solidFill>
            </a:endParaRPr>
          </a:p>
        </p:txBody>
      </p:sp>
      <p:sp>
        <p:nvSpPr>
          <p:cNvPr id="100006" name="Label"/>
          <p:cNvSpPr txBox="1"/>
          <p:nvPr/>
        </p:nvSpPr>
        <p:spPr>
          <a:xfrm>
            <a:off x="540000" y="36000"/>
            <a:ext cx="4320000" cy="180000"/>
          </a:xfrm>
          <a:prstGeom prst="rect">
            <a:avLst/>
          </a:prstGeom>
        </p:spPr>
        <p:txBody>
          <a:bodyPr/>
          <a:lstStyle/>
          <a:p>
            <a:r>
              <a:rPr lang="en-US" sz="1000" b="1">
                <a:solidFill>
                  <a:srgbClr val="8BC34A"/>
                </a:solidFill>
              </a:rPr>
              <a:t>01  THE PROBLEM</a:t>
            </a:r>
          </a:p>
        </p:txBody>
      </p:sp>
      <p:sp>
        <p:nvSpPr>
          <p:cNvPr id="100007" name="Title"/>
          <p:cNvSpPr txBox="1"/>
          <p:nvPr/>
        </p:nvSpPr>
        <p:spPr>
          <a:xfrm>
            <a:off x="540000" y="432000"/>
            <a:ext cx="7200000" cy="504000"/>
          </a:xfrm>
          <a:prstGeom prst="rect">
            <a:avLst/>
          </a:prstGeom>
        </p:spPr>
        <p:txBody>
          <a:bodyPr/>
          <a:lstStyle/>
          <a:p>
            <a:r>
              <a:rPr lang="en-US" sz="3200" b="1">
                <a:solidFill>
                  <a:srgbClr val="1B5E20"/>
                </a:solidFill>
              </a:rPr>
              <a:t>The Problem</a:t>
            </a:r>
          </a:p>
        </p:txBody>
      </p:sp>
      <p:sp>
        <p:nvSpPr>
          <p:cNvPr id="100008" name="Intro"/>
          <p:cNvSpPr txBox="1"/>
          <p:nvPr/>
        </p:nvSpPr>
        <p:spPr>
          <a:xfrm>
            <a:off x="540000" y="1044000"/>
            <a:ext cx="10800000" cy="324000"/>
          </a:xfrm>
          <a:prstGeom prst="rect">
            <a:avLst/>
          </a:prstGeom>
        </p:spPr>
        <p:txBody>
          <a:bodyPr/>
          <a:lstStyle/>
          <a:p>
            <a:r>
              <a:rPr lang="en-US" sz="1500">
                <a:solidFill>
                  <a:srgbClr val="444444"/>
                </a:solidFill>
              </a:rPr>
              <a:t>Indonesia produces 60% of the world's palm oil. Yet most plantation operations still suffer from three critical gaps:</a:t>
            </a:r>
          </a:p>
        </p:txBody>
      </p:sp>
      <p:sp>
        <p:nvSpPr>
          <p:cNvPr id="100009" name="P1"/>
          <p:cNvSpPr txBox="1"/>
          <p:nvPr/>
        </p:nvSpPr>
        <p:spPr>
          <a:xfrm>
            <a:off x="540000" y="1512000"/>
            <a:ext cx="3312000" cy="1800000"/>
          </a:xfrm>
          <a:prstGeom prst="rect">
            <a:avLst/>
          </a:prstGeom>
          <a:solidFill>
            <a:srgbClr val="FFF3E0"/>
          </a:solidFill>
        </p:spPr>
        <p:txBody>
          <a:bodyPr/>
          <a:lstStyle/>
          <a:p>
            <a:r>
              <a:rPr lang="en-US" sz="1300">
                <a:solidFill>
                  <a:srgbClr val="1F2328"/>
                </a:solidFill>
              </a:rPr>
              <a:t>1  FRAGMENTED DATA</a:t>
            </a:r>
          </a:p>
          <a:p>
            <a:endParaRPr lang="en-US" sz="1300">
              <a:solidFill>
                <a:srgbClr val="1F2328"/>
              </a:solidFill>
            </a:endParaRPr>
          </a:p>
          <a:p>
            <a:r>
              <a:rPr lang="en-US" sz="1300">
                <a:solidFill>
                  <a:srgbClr val="1F2328"/>
                </a:solidFill>
              </a:rPr>
              <a:t>Production, cost, quality and agronomic data live in separate spreadsheets. No unified view, no single source of truth.</a:t>
            </a:r>
          </a:p>
        </p:txBody>
      </p:sp>
      <p:sp>
        <p:nvSpPr>
          <p:cNvPr id="100010" name="P2"/>
          <p:cNvSpPr txBox="1"/>
          <p:nvPr/>
        </p:nvSpPr>
        <p:spPr>
          <a:xfrm>
            <a:off x="4140000" y="1512000"/>
            <a:ext cx="3312000" cy="1800000"/>
          </a:xfrm>
          <a:prstGeom prst="rect">
            <a:avLst/>
          </a:prstGeom>
          <a:solidFill>
            <a:srgbClr val="FFEBEE"/>
          </a:solidFill>
        </p:spPr>
        <p:txBody>
          <a:bodyPr/>
          <a:lstStyle/>
          <a:p>
            <a:r>
              <a:rPr lang="en-US" sz="1300">
                <a:solidFill>
                  <a:srgbClr val="1F2328"/>
                </a:solidFill>
              </a:rPr>
              <a:t>2  NO STANDARDS BENCHMARK</a:t>
            </a:r>
          </a:p>
          <a:p>
            <a:endParaRPr lang="en-US" sz="1300">
              <a:solidFill>
                <a:srgbClr val="1F2328"/>
              </a:solidFill>
            </a:endParaRPr>
          </a:p>
          <a:p>
            <a:r>
              <a:rPr lang="en-US" sz="1300">
                <a:solidFill>
                  <a:srgbClr val="1F2328"/>
                </a:solidFill>
              </a:rPr>
              <a:t>No automated way to compare actuals against GAPKI, PPKS, SNI, RSPO, or ISPO across 50+ parameters.</a:t>
            </a:r>
          </a:p>
        </p:txBody>
      </p:sp>
      <p:sp>
        <p:nvSpPr>
          <p:cNvPr id="100011" name="P3"/>
          <p:cNvSpPr txBox="1"/>
          <p:nvPr/>
        </p:nvSpPr>
        <p:spPr>
          <a:xfrm>
            <a:off x="7740000" y="1512000"/>
            <a:ext cx="3312000" cy="1800000"/>
          </a:xfrm>
          <a:prstGeom prst="rect">
            <a:avLst/>
          </a:prstGeom>
          <a:solidFill>
            <a:srgbClr val="E8F5E9"/>
          </a:solidFill>
        </p:spPr>
        <p:txBody>
          <a:bodyPr/>
          <a:lstStyle/>
          <a:p>
            <a:r>
              <a:rPr lang="en-US" sz="1300">
                <a:solidFill>
                  <a:srgbClr val="1F2328"/>
                </a:solidFill>
              </a:rPr>
              <a:t>3  SLOW DECISIONS</a:t>
            </a:r>
          </a:p>
          <a:p>
            <a:endParaRPr lang="en-US" sz="1300">
              <a:solidFill>
                <a:srgbClr val="1F2328"/>
              </a:solidFill>
            </a:endParaRPr>
          </a:p>
          <a:p>
            <a:r>
              <a:rPr lang="en-US" sz="1300">
                <a:solidFill>
                  <a:srgbClr val="1F2328"/>
                </a:solidFill>
              </a:rPr>
              <a:t>Without an AI layer, identifying root causes of underperformance requires days of manual data analysis.</a:t>
            </a:r>
          </a:p>
        </p:txBody>
      </p:sp>
      <p:sp>
        <p:nvSpPr>
          <p:cNvPr id="100012" name="Stat"/>
          <p:cNvSpPr txBox="1"/>
          <p:nvPr/>
        </p:nvSpPr>
        <p:spPr>
          <a:xfrm>
            <a:off x="540000" y="3528000"/>
            <a:ext cx="10800000" cy="324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300" b="1">
                <a:solidFill>
                  <a:srgbClr val="2E7D32"/>
                </a:solidFill>
              </a:rPr>
              <a:t>60% of global palm oil supply comes from Indonesia — the stakes for getting this right could not be higher.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3" name="TopBar"/>
          <p:cNvSpPr txBox="1"/>
          <p:nvPr/>
        </p:nvSpPr>
        <p:spPr>
          <a:xfrm>
            <a:off x="0" y="0"/>
            <a:ext cx="12193200" cy="252000"/>
          </a:xfrm>
          <a:prstGeom prst="rect">
            <a:avLst/>
          </a:prstGeom>
          <a:solidFill>
            <a:srgbClr val="1B5E20"/>
          </a:solidFill>
        </p:spPr>
        <p:txBody>
          <a:bodyPr/>
          <a:lstStyle/>
          <a:p>
            <a:endParaRPr lang="en-US">
              <a:solidFill>
                <a:srgbClr val="1B5E20"/>
              </a:solidFill>
            </a:endParaRPr>
          </a:p>
        </p:txBody>
      </p:sp>
      <p:sp>
        <p:nvSpPr>
          <p:cNvPr id="100014" name="Label"/>
          <p:cNvSpPr txBox="1"/>
          <p:nvPr/>
        </p:nvSpPr>
        <p:spPr>
          <a:xfrm>
            <a:off x="540000" y="36000"/>
            <a:ext cx="5040000" cy="180000"/>
          </a:xfrm>
          <a:prstGeom prst="rect">
            <a:avLst/>
          </a:prstGeom>
        </p:spPr>
        <p:txBody>
          <a:bodyPr/>
          <a:lstStyle/>
          <a:p>
            <a:r>
              <a:rPr lang="en-US" sz="1000" b="1">
                <a:solidFill>
                  <a:srgbClr val="8BC34A"/>
                </a:solidFill>
              </a:rPr>
              <a:t>02  THE SOLUTION</a:t>
            </a:r>
          </a:p>
        </p:txBody>
      </p:sp>
      <p:sp>
        <p:nvSpPr>
          <p:cNvPr id="100015" name="Title"/>
          <p:cNvSpPr txBox="1"/>
          <p:nvPr/>
        </p:nvSpPr>
        <p:spPr>
          <a:xfrm>
            <a:off x="540000" y="432000"/>
            <a:ext cx="10080000" cy="504000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>
                <a:solidFill>
                  <a:srgbClr val="1B5E20"/>
                </a:solidFill>
              </a:rPr>
              <a:t>The Solution: </a:t>
            </a:r>
            <a:r>
              <a:rPr lang="en-US" sz="3200" b="1" dirty="0" err="1">
                <a:solidFill>
                  <a:srgbClr val="1B5E20"/>
                </a:solidFill>
              </a:rPr>
              <a:t>erpAgroSmart</a:t>
            </a:r>
            <a:r>
              <a:rPr lang="en-US" sz="3200" b="1" dirty="0">
                <a:solidFill>
                  <a:srgbClr val="1B5E20"/>
                </a:solidFill>
              </a:rPr>
              <a:t> Platform</a:t>
            </a:r>
          </a:p>
        </p:txBody>
      </p:sp>
      <p:sp>
        <p:nvSpPr>
          <p:cNvPr id="100016" name="Desc"/>
          <p:cNvSpPr txBox="1"/>
          <p:nvPr/>
        </p:nvSpPr>
        <p:spPr>
          <a:xfrm>
            <a:off x="540000" y="1044000"/>
            <a:ext cx="10800000" cy="324000"/>
          </a:xfrm>
          <a:prstGeom prst="rect">
            <a:avLst/>
          </a:prstGeom>
        </p:spPr>
        <p:txBody>
          <a:bodyPr/>
          <a:lstStyle/>
          <a:p>
            <a:r>
              <a:rPr lang="en-US" sz="1400">
                <a:solidFill>
                  <a:srgbClr val="444444"/>
                </a:solidFill>
              </a:rPr>
              <a:t>A full-stack plantation ERP with IBM Bob AI embedded as a compliance and advisory engine — covering the complete operational chain from seedling to sale.</a:t>
            </a:r>
          </a:p>
        </p:txBody>
      </p:sp>
      <p:sp>
        <p:nvSpPr>
          <p:cNvPr id="100017" name="Hier"/>
          <p:cNvSpPr txBox="1"/>
          <p:nvPr/>
        </p:nvSpPr>
        <p:spPr>
          <a:xfrm>
            <a:off x="540000" y="1512000"/>
            <a:ext cx="10800000" cy="324000"/>
          </a:xfrm>
          <a:prstGeom prst="rect">
            <a:avLst/>
          </a:prstGeom>
          <a:solidFill>
            <a:srgbClr val="2E7D32"/>
          </a:solidFill>
        </p:spPr>
        <p:txBody>
          <a:bodyPr/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Company  &gt;  Business Unit  &gt;  Division (Afdeling)  &gt;  Planting Year  &gt;  Block</a:t>
            </a:r>
          </a:p>
        </p:txBody>
      </p:sp>
      <p:sp>
        <p:nvSpPr>
          <p:cNvPr id="100018" name="Stack"/>
          <p:cNvSpPr txBox="1"/>
          <p:nvPr/>
        </p:nvSpPr>
        <p:spPr>
          <a:xfrm>
            <a:off x="540000" y="1944000"/>
            <a:ext cx="10800000" cy="288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300">
                <a:solidFill>
                  <a:srgbClr val="1565C0"/>
                </a:solidFill>
              </a:rPr>
              <a:t>PHP 8+   |   PostgreSQL   |   Bootstrap 5   |   React (Vite)   |   IBM Bob AI   |   Leaflet.js GIS</a:t>
            </a:r>
          </a:p>
        </p:txBody>
      </p:sp>
      <p:sp>
        <p:nvSpPr>
          <p:cNvPr id="100019" name="M1"/>
          <p:cNvSpPr txBox="1"/>
          <p:nvPr/>
        </p:nvSpPr>
        <p:spPr>
          <a:xfrm>
            <a:off x="540000" y="2340000"/>
            <a:ext cx="3312000" cy="720000"/>
          </a:xfrm>
          <a:prstGeom prst="rect">
            <a:avLst/>
          </a:prstGeom>
          <a:solidFill>
            <a:srgbClr val="F1F8E9"/>
          </a:solidFill>
        </p:spPr>
        <p:txBody>
          <a:bodyPr/>
          <a:lstStyle/>
          <a:p>
            <a:r>
              <a:rPr lang="en-US" sz="1200">
                <a:solidFill>
                  <a:srgbClr val="1F2328"/>
                </a:solidFill>
              </a:rPr>
              <a:t>Nursery</a:t>
            </a:r>
          </a:p>
          <a:p>
            <a:r>
              <a:rPr lang="en-US" sz="1200">
                <a:solidFill>
                  <a:srgbClr val="1F2328"/>
                </a:solidFill>
              </a:rPr>
              <a:t>Seedling stock, Production plan, Distribution</a:t>
            </a:r>
          </a:p>
        </p:txBody>
      </p:sp>
      <p:sp>
        <p:nvSpPr>
          <p:cNvPr id="100020" name="M2"/>
          <p:cNvSpPr txBox="1"/>
          <p:nvPr/>
        </p:nvSpPr>
        <p:spPr>
          <a:xfrm>
            <a:off x="4140000" y="2340000"/>
            <a:ext cx="3312000" cy="720000"/>
          </a:xfrm>
          <a:prstGeom prst="rect">
            <a:avLst/>
          </a:prstGeom>
          <a:solidFill>
            <a:srgbClr val="F1F8E9"/>
          </a:solidFill>
        </p:spPr>
        <p:txBody>
          <a:bodyPr/>
          <a:lstStyle/>
          <a:p>
            <a:r>
              <a:rPr lang="en-US" sz="1200">
                <a:solidFill>
                  <a:srgbClr val="1F2328"/>
                </a:solidFill>
              </a:rPr>
              <a:t>Field Operations</a:t>
            </a:r>
          </a:p>
          <a:p>
            <a:r>
              <a:rPr lang="en-US" sz="1200">
                <a:solidFill>
                  <a:srgbClr val="1F2328"/>
                </a:solidFill>
              </a:rPr>
              <a:t>Work orders, Fertilization, Pest control</a:t>
            </a:r>
          </a:p>
        </p:txBody>
      </p:sp>
      <p:sp>
        <p:nvSpPr>
          <p:cNvPr id="100021" name="M3"/>
          <p:cNvSpPr txBox="1"/>
          <p:nvPr/>
        </p:nvSpPr>
        <p:spPr>
          <a:xfrm>
            <a:off x="7740000" y="2340000"/>
            <a:ext cx="3312000" cy="720000"/>
          </a:xfrm>
          <a:prstGeom prst="rect">
            <a:avLst/>
          </a:prstGeom>
          <a:solidFill>
            <a:srgbClr val="F1F8E9"/>
          </a:solidFill>
        </p:spPr>
        <p:txBody>
          <a:bodyPr/>
          <a:lstStyle/>
          <a:p>
            <a:r>
              <a:rPr lang="en-US" sz="1200">
                <a:solidFill>
                  <a:srgbClr val="1F2328"/>
                </a:solidFill>
              </a:rPr>
              <a:t>Harvesting + Mill</a:t>
            </a:r>
          </a:p>
          <a:p>
            <a:r>
              <a:rPr lang="en-US" sz="1200">
                <a:solidFill>
                  <a:srgbClr val="1F2328"/>
                </a:solidFill>
              </a:rPr>
              <a:t>FFB, CPO/Kernel processing, OER, Quality</a:t>
            </a:r>
          </a:p>
        </p:txBody>
      </p:sp>
      <p:sp>
        <p:nvSpPr>
          <p:cNvPr id="100022" name="M4"/>
          <p:cNvSpPr txBox="1"/>
          <p:nvPr/>
        </p:nvSpPr>
        <p:spPr>
          <a:xfrm>
            <a:off x="540000" y="3168000"/>
            <a:ext cx="3312000" cy="720000"/>
          </a:xfrm>
          <a:prstGeom prst="rect">
            <a:avLst/>
          </a:prstGeom>
          <a:solidFill>
            <a:srgbClr val="E8EAF6"/>
          </a:solidFill>
        </p:spPr>
        <p:txBody>
          <a:bodyPr/>
          <a:lstStyle/>
          <a:p>
            <a:r>
              <a:rPr lang="en-US" sz="1200">
                <a:solidFill>
                  <a:srgbClr val="1F2328"/>
                </a:solidFill>
              </a:rPr>
              <a:t>Financial Reporting</a:t>
            </a:r>
          </a:p>
          <a:p>
            <a:r>
              <a:rPr lang="en-US" sz="1200">
                <a:solidFill>
                  <a:srgbClr val="1F2328"/>
                </a:solidFill>
              </a:rPr>
              <a:t>49 GL accounts, Double-entry, Budget variance</a:t>
            </a:r>
          </a:p>
        </p:txBody>
      </p:sp>
      <p:sp>
        <p:nvSpPr>
          <p:cNvPr id="100023" name="M5"/>
          <p:cNvSpPr txBox="1"/>
          <p:nvPr/>
        </p:nvSpPr>
        <p:spPr>
          <a:xfrm>
            <a:off x="4140000" y="3168000"/>
            <a:ext cx="3312000" cy="720000"/>
          </a:xfrm>
          <a:prstGeom prst="rect">
            <a:avLst/>
          </a:prstGeom>
          <a:solidFill>
            <a:srgbClr val="E8EAF6"/>
          </a:solidFill>
        </p:spPr>
        <p:txBody>
          <a:bodyPr/>
          <a:lstStyle/>
          <a:p>
            <a:r>
              <a:rPr lang="en-US" sz="1200">
                <a:solidFill>
                  <a:srgbClr val="1F2328"/>
                </a:solidFill>
              </a:rPr>
              <a:t>GIS Block Map</a:t>
            </a:r>
          </a:p>
          <a:p>
            <a:r>
              <a:rPr lang="en-US" sz="1200">
                <a:solidFill>
                  <a:srgbClr val="1F2328"/>
                </a:solidFill>
              </a:rPr>
              <a:t>Leaflet.js, Compliance overlays, POI layers</a:t>
            </a:r>
          </a:p>
        </p:txBody>
      </p:sp>
      <p:sp>
        <p:nvSpPr>
          <p:cNvPr id="100024" name="M6"/>
          <p:cNvSpPr txBox="1"/>
          <p:nvPr/>
        </p:nvSpPr>
        <p:spPr>
          <a:xfrm>
            <a:off x="7740000" y="3168000"/>
            <a:ext cx="3312000" cy="720000"/>
          </a:xfrm>
          <a:prstGeom prst="rect">
            <a:avLst/>
          </a:prstGeom>
          <a:solidFill>
            <a:srgbClr val="1B5E20"/>
          </a:solidFill>
        </p:spPr>
        <p:txBody>
          <a:bodyPr/>
          <a:lstStyle/>
          <a:p>
            <a:r>
              <a:rPr lang="en-US" sz="1200">
                <a:solidFill>
                  <a:srgbClr val="FFFFFF"/>
                </a:solidFill>
              </a:rPr>
              <a:t>IBM Bob AI</a:t>
            </a:r>
          </a:p>
          <a:p>
            <a:r>
              <a:rPr lang="en-US" sz="1200">
                <a:solidFill>
                  <a:srgbClr val="FFFFFF"/>
                </a:solidFill>
              </a:rPr>
              <a:t>GAPKI compliance scoring, Corrective 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5" name="TopBar"/>
          <p:cNvSpPr txBox="1"/>
          <p:nvPr/>
        </p:nvSpPr>
        <p:spPr>
          <a:xfrm>
            <a:off x="0" y="0"/>
            <a:ext cx="12193200" cy="252000"/>
          </a:xfrm>
          <a:prstGeom prst="rect">
            <a:avLst/>
          </a:prstGeom>
          <a:solidFill>
            <a:srgbClr val="1B5E20"/>
          </a:solidFill>
        </p:spPr>
        <p:txBody>
          <a:bodyPr/>
          <a:lstStyle/>
          <a:p>
            <a:endParaRPr lang="en-US">
              <a:solidFill>
                <a:srgbClr val="1B5E20"/>
              </a:solidFill>
            </a:endParaRPr>
          </a:p>
        </p:txBody>
      </p:sp>
      <p:sp>
        <p:nvSpPr>
          <p:cNvPr id="100026" name="Label"/>
          <p:cNvSpPr txBox="1"/>
          <p:nvPr/>
        </p:nvSpPr>
        <p:spPr>
          <a:xfrm>
            <a:off x="540000" y="36000"/>
            <a:ext cx="5040000" cy="180000"/>
          </a:xfrm>
          <a:prstGeom prst="rect">
            <a:avLst/>
          </a:prstGeom>
        </p:spPr>
        <p:txBody>
          <a:bodyPr/>
          <a:lstStyle/>
          <a:p>
            <a:r>
              <a:rPr lang="en-US" sz="1000" b="1">
                <a:solidFill>
                  <a:srgbClr val="8BC34A"/>
                </a:solidFill>
              </a:rPr>
              <a:t>03  GAPKI STANDARDS</a:t>
            </a:r>
          </a:p>
        </p:txBody>
      </p:sp>
      <p:sp>
        <p:nvSpPr>
          <p:cNvPr id="100027" name="Title"/>
          <p:cNvSpPr txBox="1"/>
          <p:nvPr/>
        </p:nvSpPr>
        <p:spPr>
          <a:xfrm>
            <a:off x="540000" y="432000"/>
            <a:ext cx="10080000" cy="504000"/>
          </a:xfrm>
          <a:prstGeom prst="rect">
            <a:avLst/>
          </a:prstGeom>
        </p:spPr>
        <p:txBody>
          <a:bodyPr/>
          <a:lstStyle/>
          <a:p>
            <a:r>
              <a:rPr lang="en-US" sz="3200" b="1">
                <a:solidFill>
                  <a:srgbClr val="1B5E20"/>
                </a:solidFill>
              </a:rPr>
              <a:t>GAPKI Standards Library — 50+ Parameters</a:t>
            </a:r>
          </a:p>
        </p:txBody>
      </p:sp>
      <p:sp>
        <p:nvSpPr>
          <p:cNvPr id="100028" name="Sources"/>
          <p:cNvSpPr txBox="1"/>
          <p:nvPr/>
        </p:nvSpPr>
        <p:spPr>
          <a:xfrm>
            <a:off x="540000" y="1044000"/>
            <a:ext cx="10800000" cy="288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300">
                <a:solidFill>
                  <a:srgbClr val="1565C0"/>
                </a:solidFill>
              </a:rPr>
              <a:t>GAPKI  |  PPKS Medan  |  SNI 8171:2015  |  SNI 7182:2015  |  Permentan RI  |  RSPO P&amp;C 2018  |  ISPO 2020</a:t>
            </a:r>
          </a:p>
        </p:txBody>
      </p:sp>
      <p:sp>
        <p:nvSpPr>
          <p:cNvPr id="100029" name="Cat1"/>
          <p:cNvSpPr txBox="1"/>
          <p:nvPr/>
        </p:nvSpPr>
        <p:spPr>
          <a:xfrm>
            <a:off x="540000" y="1440000"/>
            <a:ext cx="5220000" cy="1008000"/>
          </a:xfrm>
          <a:prstGeom prst="rect">
            <a:avLst/>
          </a:prstGeom>
          <a:solidFill>
            <a:srgbClr val="E8F5E9"/>
          </a:solidFill>
        </p:spPr>
        <p:txBody>
          <a:bodyPr/>
          <a:lstStyle/>
          <a:p>
            <a:r>
              <a:rPr lang="en-US" sz="1200">
                <a:solidFill>
                  <a:srgbClr val="1F2328"/>
                </a:solidFill>
              </a:rPr>
              <a:t>PLANTATION</a:t>
            </a:r>
          </a:p>
          <a:p>
            <a:r>
              <a:rPr lang="en-US" sz="1200">
                <a:solidFill>
                  <a:srgbClr val="1F2328"/>
                </a:solidFill>
              </a:rPr>
              <a:t>SPH 136-148/ha, FFB yield &gt;=20 t/ha/yr</a:t>
            </a:r>
          </a:p>
          <a:p>
            <a:r>
              <a:rPr lang="en-US" sz="1200">
                <a:solidFill>
                  <a:srgbClr val="1F2328"/>
                </a:solidFill>
              </a:rPr>
              <a:t>ABW 15-25 kg, Harvest interval 7-14 days</a:t>
            </a:r>
          </a:p>
        </p:txBody>
      </p:sp>
      <p:sp>
        <p:nvSpPr>
          <p:cNvPr id="100030" name="Cat2"/>
          <p:cNvSpPr txBox="1"/>
          <p:nvPr/>
        </p:nvSpPr>
        <p:spPr>
          <a:xfrm>
            <a:off x="6192000" y="1440000"/>
            <a:ext cx="5220000" cy="1008000"/>
          </a:xfrm>
          <a:prstGeom prst="rect">
            <a:avLst/>
          </a:prstGeom>
          <a:solidFill>
            <a:srgbClr val="E8F5E9"/>
          </a:solidFill>
        </p:spPr>
        <p:txBody>
          <a:bodyPr/>
          <a:lstStyle/>
          <a:p>
            <a:r>
              <a:rPr lang="en-US" sz="1200">
                <a:solidFill>
                  <a:srgbClr val="1F2328"/>
                </a:solidFill>
              </a:rPr>
              <a:t>MILL</a:t>
            </a:r>
          </a:p>
          <a:p>
            <a:r>
              <a:rPr lang="en-US" sz="1200">
                <a:solidFill>
                  <a:srgbClr val="1F2328"/>
                </a:solidFill>
              </a:rPr>
              <a:t>OER &gt;=22%, KER &gt;=4.5%</a:t>
            </a:r>
          </a:p>
          <a:p>
            <a:r>
              <a:rPr lang="en-US" sz="1200">
                <a:solidFill>
                  <a:srgbClr val="1F2328"/>
                </a:solidFill>
              </a:rPr>
              <a:t>FFA &lt;3.5%, Moisture &lt;0.15%</a:t>
            </a:r>
          </a:p>
        </p:txBody>
      </p:sp>
      <p:sp>
        <p:nvSpPr>
          <p:cNvPr id="100031" name="Cat3"/>
          <p:cNvSpPr txBox="1"/>
          <p:nvPr/>
        </p:nvSpPr>
        <p:spPr>
          <a:xfrm>
            <a:off x="540000" y="2556000"/>
            <a:ext cx="5220000" cy="864000"/>
          </a:xfrm>
          <a:prstGeom prst="rect">
            <a:avLst/>
          </a:prstGeom>
          <a:solidFill>
            <a:srgbClr val="FFF8E1"/>
          </a:solidFill>
        </p:spPr>
        <p:txBody>
          <a:bodyPr/>
          <a:lstStyle/>
          <a:p>
            <a:r>
              <a:rPr lang="en-US" sz="1200">
                <a:solidFill>
                  <a:srgbClr val="1F2328"/>
                </a:solidFill>
              </a:rPr>
              <a:t>NURSERY</a:t>
            </a:r>
          </a:p>
          <a:p>
            <a:r>
              <a:rPr lang="en-US" sz="1200">
                <a:solidFill>
                  <a:srgbClr val="1F2328"/>
                </a:solidFill>
              </a:rPr>
              <a:t>Germination &gt;=80%, Survival &gt;=90%</a:t>
            </a:r>
          </a:p>
          <a:p>
            <a:r>
              <a:rPr lang="en-US" sz="1200">
                <a:solidFill>
                  <a:srgbClr val="1F2328"/>
                </a:solidFill>
              </a:rPr>
              <a:t>Abnormal seedlings &lt;5%</a:t>
            </a:r>
          </a:p>
        </p:txBody>
      </p:sp>
      <p:sp>
        <p:nvSpPr>
          <p:cNvPr id="100032" name="Cat4"/>
          <p:cNvSpPr txBox="1"/>
          <p:nvPr/>
        </p:nvSpPr>
        <p:spPr>
          <a:xfrm>
            <a:off x="6192000" y="2556000"/>
            <a:ext cx="5220000" cy="864000"/>
          </a:xfrm>
          <a:prstGeom prst="rect">
            <a:avLst/>
          </a:prstGeom>
          <a:solidFill>
            <a:srgbClr val="FFF8E1"/>
          </a:solidFill>
        </p:spPr>
        <p:txBody>
          <a:bodyPr/>
          <a:lstStyle/>
          <a:p>
            <a:r>
              <a:rPr lang="en-US" sz="1200">
                <a:solidFill>
                  <a:srgbClr val="1F2328"/>
                </a:solidFill>
              </a:rPr>
              <a:t>FERTILIZATION</a:t>
            </a:r>
          </a:p>
          <a:p>
            <a:r>
              <a:rPr lang="en-US" sz="1200">
                <a:solidFill>
                  <a:srgbClr val="1F2328"/>
                </a:solidFill>
              </a:rPr>
              <a:t>Urea 1.5-2.5 kg/palm/yr</a:t>
            </a:r>
          </a:p>
          <a:p>
            <a:r>
              <a:rPr lang="en-US" sz="1200">
                <a:solidFill>
                  <a:srgbClr val="1F2328"/>
                </a:solidFill>
              </a:rPr>
              <a:t>Realization &gt;=90%, Frequency 2-4x/yr</a:t>
            </a:r>
          </a:p>
        </p:txBody>
      </p:sp>
      <p:sp>
        <p:nvSpPr>
          <p:cNvPr id="100033" name="Cat5"/>
          <p:cNvSpPr txBox="1"/>
          <p:nvPr/>
        </p:nvSpPr>
        <p:spPr>
          <a:xfrm>
            <a:off x="540000" y="3528000"/>
            <a:ext cx="3348000" cy="648000"/>
          </a:xfrm>
          <a:prstGeom prst="rect">
            <a:avLst/>
          </a:prstGeom>
          <a:solidFill>
            <a:srgbClr val="EDE7F6"/>
          </a:solidFill>
        </p:spPr>
        <p:txBody>
          <a:bodyPr/>
          <a:lstStyle/>
          <a:p>
            <a:r>
              <a:rPr lang="en-US" sz="1200">
                <a:solidFill>
                  <a:srgbClr val="1F2328"/>
                </a:solidFill>
              </a:rPr>
              <a:t>FINANCE</a:t>
            </a:r>
          </a:p>
          <a:p>
            <a:r>
              <a:rPr lang="en-US" sz="1200">
                <a:solidFill>
                  <a:srgbClr val="1F2328"/>
                </a:solidFill>
              </a:rPr>
              <a:t>Production cost &lt;Rp800/kg FFB</a:t>
            </a:r>
          </a:p>
        </p:txBody>
      </p:sp>
      <p:sp>
        <p:nvSpPr>
          <p:cNvPr id="100034" name="Cat6"/>
          <p:cNvSpPr txBox="1"/>
          <p:nvPr/>
        </p:nvSpPr>
        <p:spPr>
          <a:xfrm>
            <a:off x="4140000" y="3528000"/>
            <a:ext cx="3348000" cy="648000"/>
          </a:xfrm>
          <a:prstGeom prst="rect">
            <a:avLst/>
          </a:prstGeom>
          <a:solidFill>
            <a:srgbClr val="EDE7F6"/>
          </a:solidFill>
        </p:spPr>
        <p:txBody>
          <a:bodyPr/>
          <a:lstStyle/>
          <a:p>
            <a:r>
              <a:rPr lang="en-US" sz="1200">
                <a:solidFill>
                  <a:srgbClr val="1F2328"/>
                </a:solidFill>
              </a:rPr>
              <a:t>SUSTAINABILITY</a:t>
            </a:r>
          </a:p>
          <a:p>
            <a:r>
              <a:rPr lang="en-US" sz="1200">
                <a:solidFill>
                  <a:srgbClr val="1F2328"/>
                </a:solidFill>
              </a:rPr>
              <a:t>Conservation &gt;=20% HGU, Riparian &gt;=50m</a:t>
            </a:r>
          </a:p>
        </p:txBody>
      </p:sp>
      <p:sp>
        <p:nvSpPr>
          <p:cNvPr id="100035" name="Cat7"/>
          <p:cNvSpPr txBox="1"/>
          <p:nvPr/>
        </p:nvSpPr>
        <p:spPr>
          <a:xfrm>
            <a:off x="7740000" y="3528000"/>
            <a:ext cx="3564000" cy="648000"/>
          </a:xfrm>
          <a:prstGeom prst="rect">
            <a:avLst/>
          </a:prstGeom>
          <a:solidFill>
            <a:srgbClr val="EDE7F6"/>
          </a:solidFill>
        </p:spPr>
        <p:txBody>
          <a:bodyPr/>
          <a:lstStyle/>
          <a:p>
            <a:r>
              <a:rPr lang="en-US" sz="1200">
                <a:solidFill>
                  <a:srgbClr val="1F2328"/>
                </a:solidFill>
              </a:rPr>
              <a:t>PEST &amp; DISEASE</a:t>
            </a:r>
          </a:p>
          <a:p>
            <a:r>
              <a:rPr lang="en-US" sz="1200">
                <a:solidFill>
                  <a:srgbClr val="1F2328"/>
                </a:solidFill>
              </a:rPr>
              <a:t>Ganoderma &lt;10%, Rat damage &lt;5%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6" name="TopBar"/>
          <p:cNvSpPr txBox="1"/>
          <p:nvPr/>
        </p:nvSpPr>
        <p:spPr>
          <a:xfrm>
            <a:off x="0" y="0"/>
            <a:ext cx="12193200" cy="252000"/>
          </a:xfrm>
          <a:prstGeom prst="rect">
            <a:avLst/>
          </a:prstGeom>
          <a:solidFill>
            <a:srgbClr val="1B5E20"/>
          </a:solidFill>
        </p:spPr>
        <p:txBody>
          <a:bodyPr/>
          <a:lstStyle/>
          <a:p>
            <a:endParaRPr lang="en-US">
              <a:solidFill>
                <a:srgbClr val="1B5E20"/>
              </a:solidFill>
            </a:endParaRPr>
          </a:p>
        </p:txBody>
      </p:sp>
      <p:sp>
        <p:nvSpPr>
          <p:cNvPr id="100037" name="Label"/>
          <p:cNvSpPr txBox="1"/>
          <p:nvPr/>
        </p:nvSpPr>
        <p:spPr>
          <a:xfrm>
            <a:off x="540000" y="36000"/>
            <a:ext cx="4320000" cy="180000"/>
          </a:xfrm>
          <a:prstGeom prst="rect">
            <a:avLst/>
          </a:prstGeom>
        </p:spPr>
        <p:txBody>
          <a:bodyPr/>
          <a:lstStyle/>
          <a:p>
            <a:r>
              <a:rPr lang="en-US" sz="1000" b="1">
                <a:solidFill>
                  <a:srgbClr val="8BC34A"/>
                </a:solidFill>
              </a:rPr>
              <a:t>04  IBM BOB AI</a:t>
            </a:r>
          </a:p>
        </p:txBody>
      </p:sp>
      <p:sp>
        <p:nvSpPr>
          <p:cNvPr id="100038" name="Title"/>
          <p:cNvSpPr txBox="1"/>
          <p:nvPr/>
        </p:nvSpPr>
        <p:spPr>
          <a:xfrm>
            <a:off x="540000" y="432000"/>
            <a:ext cx="10080000" cy="504000"/>
          </a:xfrm>
          <a:prstGeom prst="rect">
            <a:avLst/>
          </a:prstGeom>
        </p:spPr>
        <p:txBody>
          <a:bodyPr/>
          <a:lstStyle/>
          <a:p>
            <a:r>
              <a:rPr lang="en-US" sz="3200" b="1">
                <a:solidFill>
                  <a:srgbClr val="1B5E20"/>
                </a:solidFill>
              </a:rPr>
              <a:t>IBM Bob AI — The Intelligence Layer</a:t>
            </a:r>
          </a:p>
        </p:txBody>
      </p:sp>
      <p:sp>
        <p:nvSpPr>
          <p:cNvPr id="100039" name="Desc"/>
          <p:cNvSpPr txBox="1"/>
          <p:nvPr/>
        </p:nvSpPr>
        <p:spPr>
          <a:xfrm>
            <a:off x="540000" y="1044000"/>
            <a:ext cx="10800000" cy="432000"/>
          </a:xfrm>
          <a:prstGeom prst="rect">
            <a:avLst/>
          </a:prstGeom>
        </p:spPr>
        <p:txBody>
          <a:bodyPr/>
          <a:lstStyle/>
          <a:p>
            <a:r>
              <a:rPr lang="en-US" sz="1400" dirty="0">
                <a:solidFill>
                  <a:srgbClr val="444444"/>
                </a:solidFill>
              </a:rPr>
              <a:t>Bob transforms </a:t>
            </a:r>
            <a:r>
              <a:rPr lang="en-US" sz="1400" dirty="0" err="1">
                <a:solidFill>
                  <a:srgbClr val="444444"/>
                </a:solidFill>
              </a:rPr>
              <a:t>erpAgroSmart</a:t>
            </a:r>
            <a:r>
              <a:rPr lang="en-US" sz="1400" dirty="0">
                <a:solidFill>
                  <a:srgbClr val="444444"/>
                </a:solidFill>
              </a:rPr>
              <a:t> from a data recording system into a proactive advisory platform — automatically benchmarking every operational parameter and delivering corrective recommendations for every deviation.</a:t>
            </a:r>
          </a:p>
        </p:txBody>
      </p:sp>
      <p:sp>
        <p:nvSpPr>
          <p:cNvPr id="100040" name="Pass"/>
          <p:cNvSpPr txBox="1"/>
          <p:nvPr/>
        </p:nvSpPr>
        <p:spPr>
          <a:xfrm>
            <a:off x="540000" y="1656000"/>
            <a:ext cx="3312000" cy="1368000"/>
          </a:xfrm>
          <a:prstGeom prst="rect">
            <a:avLst/>
          </a:prstGeom>
          <a:solidFill>
            <a:srgbClr val="DCFCE7"/>
          </a:solidFill>
        </p:spPr>
        <p:txBody>
          <a:bodyPr/>
          <a:lstStyle/>
          <a:p>
            <a:pPr algn="ctr"/>
            <a:r>
              <a:rPr lang="en-US" sz="1500">
                <a:solidFill>
                  <a:srgbClr val="166534"/>
                </a:solidFill>
              </a:rPr>
              <a:t>PASS</a:t>
            </a:r>
          </a:p>
          <a:p>
            <a:pPr algn="ctr"/>
            <a:endParaRPr lang="en-US" sz="1500">
              <a:solidFill>
                <a:srgbClr val="166534"/>
              </a:solidFill>
            </a:endParaRPr>
          </a:p>
          <a:p>
            <a:pPr algn="ctr"/>
            <a:r>
              <a:rPr lang="en-US" sz="1500">
                <a:solidFill>
                  <a:srgbClr val="166534"/>
                </a:solidFill>
              </a:rPr>
              <a:t>Actual meets or exceeds the GAPKI / SNI / PPKS standard</a:t>
            </a:r>
          </a:p>
        </p:txBody>
      </p:sp>
      <p:sp>
        <p:nvSpPr>
          <p:cNvPr id="100041" name="Warn"/>
          <p:cNvSpPr txBox="1"/>
          <p:nvPr/>
        </p:nvSpPr>
        <p:spPr>
          <a:xfrm>
            <a:off x="4140000" y="1656000"/>
            <a:ext cx="3312000" cy="1368000"/>
          </a:xfrm>
          <a:prstGeom prst="rect">
            <a:avLst/>
          </a:prstGeom>
          <a:solidFill>
            <a:srgbClr val="FEF3C7"/>
          </a:solidFill>
        </p:spPr>
        <p:txBody>
          <a:bodyPr/>
          <a:lstStyle/>
          <a:p>
            <a:pPr algn="ctr"/>
            <a:r>
              <a:rPr lang="en-US" sz="1500">
                <a:solidFill>
                  <a:srgbClr val="92400E"/>
                </a:solidFill>
              </a:rPr>
              <a:t>WARN</a:t>
            </a:r>
          </a:p>
          <a:p>
            <a:pPr algn="ctr"/>
            <a:endParaRPr lang="en-US" sz="1500">
              <a:solidFill>
                <a:srgbClr val="92400E"/>
              </a:solidFill>
            </a:endParaRPr>
          </a:p>
          <a:p>
            <a:pPr algn="ctr"/>
            <a:r>
              <a:rPr lang="en-US" sz="1500">
                <a:solidFill>
                  <a:srgbClr val="92400E"/>
                </a:solidFill>
              </a:rPr>
              <a:t>Actual is in the warning zone — requires attention and monitoring</a:t>
            </a:r>
          </a:p>
        </p:txBody>
      </p:sp>
      <p:sp>
        <p:nvSpPr>
          <p:cNvPr id="100042" name="Fail"/>
          <p:cNvSpPr txBox="1"/>
          <p:nvPr/>
        </p:nvSpPr>
        <p:spPr>
          <a:xfrm>
            <a:off x="7740000" y="1656000"/>
            <a:ext cx="3312000" cy="1368000"/>
          </a:xfrm>
          <a:prstGeom prst="rect">
            <a:avLst/>
          </a:prstGeom>
          <a:solidFill>
            <a:srgbClr val="FEF2F2"/>
          </a:solidFill>
        </p:spPr>
        <p:txBody>
          <a:bodyPr/>
          <a:lstStyle/>
          <a:p>
            <a:pPr algn="ctr"/>
            <a:r>
              <a:rPr lang="en-US" sz="1500">
                <a:solidFill>
                  <a:srgbClr val="991B1B"/>
                </a:solidFill>
              </a:rPr>
              <a:t>FAIL</a:t>
            </a:r>
          </a:p>
          <a:p>
            <a:pPr algn="ctr"/>
            <a:endParaRPr lang="en-US" sz="1500">
              <a:solidFill>
                <a:srgbClr val="991B1B"/>
              </a:solidFill>
            </a:endParaRPr>
          </a:p>
          <a:p>
            <a:pPr algn="ctr"/>
            <a:r>
              <a:rPr lang="en-US" sz="1500">
                <a:solidFill>
                  <a:srgbClr val="991B1B"/>
                </a:solidFill>
              </a:rPr>
              <a:t>Actual below minimum standard — Bob generates corrective recommendation</a:t>
            </a:r>
          </a:p>
        </p:txBody>
      </p:sp>
      <p:sp>
        <p:nvSpPr>
          <p:cNvPr id="100043" name="Example"/>
          <p:cNvSpPr txBox="1"/>
          <p:nvPr/>
        </p:nvSpPr>
        <p:spPr>
          <a:xfrm>
            <a:off x="540000" y="3240000"/>
            <a:ext cx="10800000" cy="900000"/>
          </a:xfrm>
          <a:prstGeom prst="rect">
            <a:avLst/>
          </a:prstGeom>
          <a:solidFill>
            <a:srgbClr val="E3F2FD"/>
          </a:solidFill>
        </p:spPr>
        <p:txBody>
          <a:bodyPr/>
          <a:lstStyle/>
          <a:p>
            <a:r>
              <a:rPr lang="en-US" sz="1300">
                <a:solidFill>
                  <a:srgbClr val="1565C0"/>
                </a:solidFill>
              </a:rPr>
              <a:t>Example Bob output:  "Your OER of 20.5% is below the SNI 7182:2015 minimum of 22%. Check sterilisation temperature (140-145 C), press pressure (40-50 bar), and dilution water ratio. Inspect for unripe bunches at ramp — PPKS recommends ripeness fraction &gt;=65%."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4" name="TopBar"/>
          <p:cNvSpPr txBox="1"/>
          <p:nvPr/>
        </p:nvSpPr>
        <p:spPr>
          <a:xfrm>
            <a:off x="0" y="0"/>
            <a:ext cx="12193200" cy="252000"/>
          </a:xfrm>
          <a:prstGeom prst="rect">
            <a:avLst/>
          </a:prstGeom>
          <a:solidFill>
            <a:srgbClr val="1B5E20"/>
          </a:solidFill>
        </p:spPr>
        <p:txBody>
          <a:bodyPr/>
          <a:lstStyle/>
          <a:p>
            <a:endParaRPr lang="en-US">
              <a:solidFill>
                <a:srgbClr val="1B5E20"/>
              </a:solidFill>
            </a:endParaRPr>
          </a:p>
        </p:txBody>
      </p:sp>
      <p:sp>
        <p:nvSpPr>
          <p:cNvPr id="100045" name="Label"/>
          <p:cNvSpPr txBox="1"/>
          <p:nvPr/>
        </p:nvSpPr>
        <p:spPr>
          <a:xfrm>
            <a:off x="540000" y="36000"/>
            <a:ext cx="4320000" cy="180000"/>
          </a:xfrm>
          <a:prstGeom prst="rect">
            <a:avLst/>
          </a:prstGeom>
        </p:spPr>
        <p:txBody>
          <a:bodyPr/>
          <a:lstStyle/>
          <a:p>
            <a:r>
              <a:rPr lang="en-US" sz="1000" b="1">
                <a:solidFill>
                  <a:srgbClr val="8BC34A"/>
                </a:solidFill>
              </a:rPr>
              <a:t>05  DEMO FLOW</a:t>
            </a:r>
          </a:p>
        </p:txBody>
      </p:sp>
      <p:sp>
        <p:nvSpPr>
          <p:cNvPr id="100046" name="Title"/>
          <p:cNvSpPr txBox="1"/>
          <p:nvPr/>
        </p:nvSpPr>
        <p:spPr>
          <a:xfrm>
            <a:off x="540000" y="432000"/>
            <a:ext cx="10080000" cy="504000"/>
          </a:xfrm>
          <a:prstGeom prst="rect">
            <a:avLst/>
          </a:prstGeom>
        </p:spPr>
        <p:txBody>
          <a:bodyPr/>
          <a:lstStyle/>
          <a:p>
            <a:r>
              <a:rPr lang="en-US" sz="3200" b="1">
                <a:solidFill>
                  <a:srgbClr val="1B5E20"/>
                </a:solidFill>
              </a:rPr>
              <a:t>Live Demo Flow</a:t>
            </a:r>
          </a:p>
        </p:txBody>
      </p:sp>
      <p:sp>
        <p:nvSpPr>
          <p:cNvPr id="100047" name="S1"/>
          <p:cNvSpPr txBox="1"/>
          <p:nvPr/>
        </p:nvSpPr>
        <p:spPr>
          <a:xfrm>
            <a:off x="540000" y="1080000"/>
            <a:ext cx="5220000" cy="648000"/>
          </a:xfrm>
          <a:prstGeom prst="rect">
            <a:avLst/>
          </a:prstGeom>
          <a:solidFill>
            <a:srgbClr val="F8F9FA"/>
          </a:solidFill>
        </p:spPr>
        <p:txBody>
          <a:bodyPr/>
          <a:lstStyle/>
          <a:p>
            <a:r>
              <a:rPr lang="en-US" sz="1300">
                <a:solidFill>
                  <a:srgbClr val="1F2328"/>
                </a:solidFill>
              </a:rPr>
              <a:t>1  LOGIN</a:t>
            </a:r>
          </a:p>
          <a:p>
            <a:r>
              <a:rPr lang="en-US" sz="1300">
                <a:solidFill>
                  <a:srgbClr val="1F2328"/>
                </a:solidFill>
              </a:rPr>
              <a:t>Manager logs in — session scoped to company, role, and division.</a:t>
            </a:r>
          </a:p>
        </p:txBody>
      </p:sp>
      <p:sp>
        <p:nvSpPr>
          <p:cNvPr id="100048" name="S2"/>
          <p:cNvSpPr txBox="1"/>
          <p:nvPr/>
        </p:nvSpPr>
        <p:spPr>
          <a:xfrm>
            <a:off x="6192000" y="1080000"/>
            <a:ext cx="5220000" cy="648000"/>
          </a:xfrm>
          <a:prstGeom prst="rect">
            <a:avLst/>
          </a:prstGeom>
          <a:solidFill>
            <a:srgbClr val="F8F9FA"/>
          </a:solidFill>
        </p:spPr>
        <p:txBody>
          <a:bodyPr/>
          <a:lstStyle/>
          <a:p>
            <a:r>
              <a:rPr lang="en-US" sz="1300">
                <a:solidFill>
                  <a:srgbClr val="1F2328"/>
                </a:solidFill>
              </a:rPr>
              <a:t>2  DASHBOARD</a:t>
            </a:r>
          </a:p>
          <a:p>
            <a:r>
              <a:rPr lang="en-US" sz="1300">
                <a:solidFill>
                  <a:srgbClr val="1F2328"/>
                </a:solidFill>
              </a:rPr>
              <a:t>KPI overview — area, blocks, production YTD, mill OER, budget variance. 3D interactive charts.</a:t>
            </a:r>
          </a:p>
        </p:txBody>
      </p:sp>
      <p:sp>
        <p:nvSpPr>
          <p:cNvPr id="100049" name="S3"/>
          <p:cNvSpPr txBox="1"/>
          <p:nvPr/>
        </p:nvSpPr>
        <p:spPr>
          <a:xfrm>
            <a:off x="540000" y="1872000"/>
            <a:ext cx="5220000" cy="648000"/>
          </a:xfrm>
          <a:prstGeom prst="rect">
            <a:avLst/>
          </a:prstGeom>
          <a:solidFill>
            <a:srgbClr val="F8F9FA"/>
          </a:solidFill>
        </p:spPr>
        <p:txBody>
          <a:bodyPr/>
          <a:lstStyle/>
          <a:p>
            <a:r>
              <a:rPr lang="en-US" sz="1300">
                <a:solidFill>
                  <a:srgbClr val="1F2328"/>
                </a:solidFill>
              </a:rPr>
              <a:t>3  LIVE DATA</a:t>
            </a:r>
          </a:p>
          <a:p>
            <a:r>
              <a:rPr lang="en-US" sz="1300">
                <a:solidFill>
                  <a:srgbClr val="1F2328"/>
                </a:solidFill>
              </a:rPr>
              <a:t>Harvesting Realizations (FFB actuals), Mill Quality (OER, FFA, KER), Financial Journal Entries.</a:t>
            </a:r>
          </a:p>
        </p:txBody>
      </p:sp>
      <p:sp>
        <p:nvSpPr>
          <p:cNvPr id="100050" name="S4"/>
          <p:cNvSpPr txBox="1"/>
          <p:nvPr/>
        </p:nvSpPr>
        <p:spPr>
          <a:xfrm>
            <a:off x="6192000" y="1872000"/>
            <a:ext cx="5220000" cy="648000"/>
          </a:xfrm>
          <a:prstGeom prst="rect">
            <a:avLst/>
          </a:prstGeom>
          <a:solidFill>
            <a:srgbClr val="F8F9FA"/>
          </a:solidFill>
        </p:spPr>
        <p:txBody>
          <a:bodyPr/>
          <a:lstStyle/>
          <a:p>
            <a:r>
              <a:rPr lang="en-US" sz="1300">
                <a:solidFill>
                  <a:srgbClr val="1F2328"/>
                </a:solidFill>
              </a:rPr>
              <a:t>4  GAPKI STANDARDS</a:t>
            </a:r>
          </a:p>
          <a:p>
            <a:r>
              <a:rPr lang="en-US" sz="1300">
                <a:solidFill>
                  <a:srgbClr val="1F2328"/>
                </a:solidFill>
              </a:rPr>
              <a:t>Browse 50+ parameter library — filterable by category, sourced from GAPKI/PPKS/SNI/RSPO/ISPO.</a:t>
            </a:r>
          </a:p>
        </p:txBody>
      </p:sp>
      <p:sp>
        <p:nvSpPr>
          <p:cNvPr id="100051" name="S5"/>
          <p:cNvSpPr txBox="1"/>
          <p:nvPr/>
        </p:nvSpPr>
        <p:spPr>
          <a:xfrm>
            <a:off x="540000" y="2664000"/>
            <a:ext cx="5220000" cy="720000"/>
          </a:xfrm>
          <a:prstGeom prst="rect">
            <a:avLst/>
          </a:prstGeom>
          <a:solidFill>
            <a:srgbClr val="FEF3C7"/>
          </a:solidFill>
        </p:spPr>
        <p:txBody>
          <a:bodyPr/>
          <a:lstStyle/>
          <a:p>
            <a:r>
              <a:rPr lang="en-US" sz="1300">
                <a:solidFill>
                  <a:srgbClr val="92400E"/>
                </a:solidFill>
              </a:rPr>
              <a:t>5  COMPLIANCE ANALYZER  (Hackathon Feature)</a:t>
            </a:r>
          </a:p>
          <a:p>
            <a:r>
              <a:rPr lang="en-US" sz="1300">
                <a:solidFill>
                  <a:srgbClr val="92400E"/>
                </a:solidFill>
              </a:rPr>
              <a:t>Actual vs Standard scorecard — every WARN/FAIL highlighted with gap value and standard cited.</a:t>
            </a:r>
          </a:p>
        </p:txBody>
      </p:sp>
      <p:sp>
        <p:nvSpPr>
          <p:cNvPr id="100052" name="S6"/>
          <p:cNvSpPr txBox="1"/>
          <p:nvPr/>
        </p:nvSpPr>
        <p:spPr>
          <a:xfrm>
            <a:off x="6192000" y="2664000"/>
            <a:ext cx="5220000" cy="720000"/>
          </a:xfrm>
          <a:prstGeom prst="rect">
            <a:avLst/>
          </a:prstGeom>
          <a:solidFill>
            <a:srgbClr val="2E7D32"/>
          </a:solidFill>
        </p:spPr>
        <p:txBody>
          <a:bodyPr/>
          <a:lstStyle/>
          <a:p>
            <a:r>
              <a:rPr lang="en-US" sz="1300">
                <a:solidFill>
                  <a:srgbClr val="FFFFFF"/>
                </a:solidFill>
              </a:rPr>
              <a:t>6  BOB AI RECOMMENDATIONS  (Hackathon Feature)</a:t>
            </a:r>
          </a:p>
          <a:p>
            <a:r>
              <a:rPr lang="en-US" sz="1300">
                <a:solidFill>
                  <a:srgbClr val="FFFFFF"/>
                </a:solidFill>
              </a:rPr>
              <a:t>For each failing parameter, Bob generates a standards-cited corrective action — live, on screen.</a:t>
            </a:r>
          </a:p>
        </p:txBody>
      </p:sp>
      <p:sp>
        <p:nvSpPr>
          <p:cNvPr id="100053" name="S7"/>
          <p:cNvSpPr txBox="1"/>
          <p:nvPr/>
        </p:nvSpPr>
        <p:spPr>
          <a:xfrm>
            <a:off x="540000" y="3528000"/>
            <a:ext cx="10800000" cy="432000"/>
          </a:xfrm>
          <a:prstGeom prst="rect">
            <a:avLst/>
          </a:prstGeom>
          <a:solidFill>
            <a:srgbClr val="E3F2FD"/>
          </a:solidFill>
        </p:spPr>
        <p:txBody>
          <a:bodyPr/>
          <a:lstStyle/>
          <a:p>
            <a:pPr algn="ctr"/>
            <a:r>
              <a:rPr lang="en-US" sz="1300">
                <a:solidFill>
                  <a:srgbClr val="1565C0"/>
                </a:solidFill>
              </a:rPr>
              <a:t>7  SMARTMAP — Click any block on the GIS map to instantly see compliance score, yield trend, and Bob recommendation.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4" name="TopBar"/>
          <p:cNvSpPr txBox="1"/>
          <p:nvPr/>
        </p:nvSpPr>
        <p:spPr>
          <a:xfrm>
            <a:off x="0" y="0"/>
            <a:ext cx="12193200" cy="252000"/>
          </a:xfrm>
          <a:prstGeom prst="rect">
            <a:avLst/>
          </a:prstGeom>
          <a:solidFill>
            <a:srgbClr val="1B5E20"/>
          </a:solidFill>
        </p:spPr>
        <p:txBody>
          <a:bodyPr/>
          <a:lstStyle/>
          <a:p>
            <a:endParaRPr lang="en-US">
              <a:solidFill>
                <a:srgbClr val="1B5E20"/>
              </a:solidFill>
            </a:endParaRPr>
          </a:p>
        </p:txBody>
      </p:sp>
      <p:sp>
        <p:nvSpPr>
          <p:cNvPr id="100055" name="Label"/>
          <p:cNvSpPr txBox="1"/>
          <p:nvPr/>
        </p:nvSpPr>
        <p:spPr>
          <a:xfrm>
            <a:off x="540000" y="36000"/>
            <a:ext cx="4320000" cy="180000"/>
          </a:xfrm>
          <a:prstGeom prst="rect">
            <a:avLst/>
          </a:prstGeom>
        </p:spPr>
        <p:txBody>
          <a:bodyPr/>
          <a:lstStyle/>
          <a:p>
            <a:r>
              <a:rPr lang="en-US" sz="1000" b="1">
                <a:solidFill>
                  <a:srgbClr val="8BC34A"/>
                </a:solidFill>
              </a:rPr>
              <a:t>06  WHY WE WIN</a:t>
            </a:r>
          </a:p>
        </p:txBody>
      </p:sp>
      <p:sp>
        <p:nvSpPr>
          <p:cNvPr id="100056" name="Title"/>
          <p:cNvSpPr txBox="1"/>
          <p:nvPr/>
        </p:nvSpPr>
        <p:spPr>
          <a:xfrm>
            <a:off x="540000" y="432000"/>
            <a:ext cx="10080000" cy="504000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>
                <a:solidFill>
                  <a:srgbClr val="1B5E20"/>
                </a:solidFill>
              </a:rPr>
              <a:t>Why </a:t>
            </a:r>
            <a:r>
              <a:rPr lang="en-US" sz="3200" b="1" dirty="0" err="1">
                <a:solidFill>
                  <a:srgbClr val="1B5E20"/>
                </a:solidFill>
              </a:rPr>
              <a:t>erpAgroSmart</a:t>
            </a:r>
            <a:r>
              <a:rPr lang="en-US" sz="3200" b="1" dirty="0">
                <a:solidFill>
                  <a:srgbClr val="1B5E20"/>
                </a:solidFill>
              </a:rPr>
              <a:t> Wins</a:t>
            </a:r>
          </a:p>
        </p:txBody>
      </p:sp>
      <p:sp>
        <p:nvSpPr>
          <p:cNvPr id="100057" name="D1"/>
          <p:cNvSpPr txBox="1"/>
          <p:nvPr/>
        </p:nvSpPr>
        <p:spPr>
          <a:xfrm>
            <a:off x="540000" y="1080000"/>
            <a:ext cx="5220000" cy="1008000"/>
          </a:xfrm>
          <a:prstGeom prst="rect">
            <a:avLst/>
          </a:prstGeom>
          <a:solidFill>
            <a:srgbClr val="E8F5E9"/>
          </a:solidFill>
        </p:spPr>
        <p:txBody>
          <a:bodyPr/>
          <a:lstStyle/>
          <a:p>
            <a:r>
              <a:rPr lang="en-US" sz="1300">
                <a:solidFill>
                  <a:srgbClr val="1F2328"/>
                </a:solidFill>
              </a:rPr>
              <a:t>Indonesian Standards Embedded</a:t>
            </a:r>
          </a:p>
          <a:p>
            <a:r>
              <a:rPr lang="en-US" sz="1300">
                <a:solidFill>
                  <a:srgbClr val="1F2328"/>
                </a:solidFill>
              </a:rPr>
              <a:t>Automatic compliance scoring against GAPKI, PPKS, SNI, RSPO, ISPO — out of the box. No other open plantation ERP does this.</a:t>
            </a:r>
          </a:p>
        </p:txBody>
      </p:sp>
      <p:sp>
        <p:nvSpPr>
          <p:cNvPr id="100058" name="D2"/>
          <p:cNvSpPr txBox="1"/>
          <p:nvPr/>
        </p:nvSpPr>
        <p:spPr>
          <a:xfrm>
            <a:off x="6192000" y="1080000"/>
            <a:ext cx="5220000" cy="1008000"/>
          </a:xfrm>
          <a:prstGeom prst="rect">
            <a:avLst/>
          </a:prstGeom>
          <a:solidFill>
            <a:srgbClr val="E8F5E9"/>
          </a:solidFill>
        </p:spPr>
        <p:txBody>
          <a:bodyPr/>
          <a:lstStyle/>
          <a:p>
            <a:r>
              <a:rPr lang="en-US" sz="1300">
                <a:solidFill>
                  <a:srgbClr val="1F2328"/>
                </a:solidFill>
              </a:rPr>
              <a:t>Full Chain — No Silos</a:t>
            </a:r>
          </a:p>
          <a:p>
            <a:r>
              <a:rPr lang="en-US" sz="1300">
                <a:solidFill>
                  <a:srgbClr val="1F2328"/>
                </a:solidFill>
              </a:rPr>
              <a:t>Nursery to mill in one unified system. No data exports, no spreadsheet bridges, no manual reconciliation.</a:t>
            </a:r>
          </a:p>
        </p:txBody>
      </p:sp>
      <p:sp>
        <p:nvSpPr>
          <p:cNvPr id="100059" name="D3"/>
          <p:cNvSpPr txBox="1"/>
          <p:nvPr/>
        </p:nvSpPr>
        <p:spPr>
          <a:xfrm>
            <a:off x="540000" y="2232000"/>
            <a:ext cx="5220000" cy="1080000"/>
          </a:xfrm>
          <a:prstGeom prst="rect">
            <a:avLst/>
          </a:prstGeom>
          <a:solidFill>
            <a:srgbClr val="E3F2FD"/>
          </a:solidFill>
        </p:spPr>
        <p:txBody>
          <a:bodyPr/>
          <a:lstStyle/>
          <a:p>
            <a:r>
              <a:rPr lang="en-US" sz="1300">
                <a:solidFill>
                  <a:srgbClr val="1F2328"/>
                </a:solidFill>
              </a:rPr>
              <a:t>IBM Bob as Agronomy Advisor</a:t>
            </a:r>
          </a:p>
          <a:p>
            <a:r>
              <a:rPr lang="en-US" sz="1300">
                <a:solidFill>
                  <a:srgbClr val="1F2328"/>
                </a:solidFill>
              </a:rPr>
              <a:t>Cites the exact standard violated, quantifies the gap, and recommends specific interventions grounded in Indonesian palm oil best practice.</a:t>
            </a:r>
          </a:p>
        </p:txBody>
      </p:sp>
      <p:sp>
        <p:nvSpPr>
          <p:cNvPr id="100060" name="D4"/>
          <p:cNvSpPr txBox="1"/>
          <p:nvPr/>
        </p:nvSpPr>
        <p:spPr>
          <a:xfrm>
            <a:off x="6192000" y="2232000"/>
            <a:ext cx="5220000" cy="1080000"/>
          </a:xfrm>
          <a:prstGeom prst="rect">
            <a:avLst/>
          </a:prstGeom>
          <a:solidFill>
            <a:srgbClr val="E3F2FD"/>
          </a:solidFill>
        </p:spPr>
        <p:txBody>
          <a:bodyPr/>
          <a:lstStyle/>
          <a:p>
            <a:r>
              <a:rPr lang="en-US" sz="1300">
                <a:solidFill>
                  <a:srgbClr val="1F2328"/>
                </a:solidFill>
              </a:rPr>
              <a:t>Enterprise Financial Reporting</a:t>
            </a:r>
          </a:p>
          <a:p>
            <a:r>
              <a:rPr lang="en-US" sz="1300">
                <a:solidFill>
                  <a:srgbClr val="1F2328"/>
                </a:solidFill>
              </a:rPr>
              <a:t>49 GL accounts, double-entry ledger, IDR 62.1B CPO/Kernel sales YTD, budget variance with missed-execution flags.</a:t>
            </a:r>
          </a:p>
        </p:txBody>
      </p:sp>
      <p:sp>
        <p:nvSpPr>
          <p:cNvPr id="100061" name="D5"/>
          <p:cNvSpPr txBox="1"/>
          <p:nvPr/>
        </p:nvSpPr>
        <p:spPr>
          <a:xfrm>
            <a:off x="540000" y="3456000"/>
            <a:ext cx="10800000" cy="648000"/>
          </a:xfrm>
          <a:prstGeom prst="rect">
            <a:avLst/>
          </a:prstGeom>
          <a:solidFill>
            <a:srgbClr val="1B5E20"/>
          </a:solidFill>
        </p:spPr>
        <p:txBody>
          <a:bodyPr/>
          <a:lstStyle/>
          <a:p>
            <a:pPr algn="ctr"/>
            <a:r>
              <a:rPr lang="en-US" sz="1300">
                <a:solidFill>
                  <a:srgbClr val="FFFFFF"/>
                </a:solidFill>
              </a:rPr>
              <a:t>Integrated GIS Block Map — Every block spatially positioned with live compliance colour-coding. Click a block to instantly see GAPKI score and Bob recommendation.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62" name="TopBar"/>
          <p:cNvSpPr txBox="1"/>
          <p:nvPr/>
        </p:nvSpPr>
        <p:spPr>
          <a:xfrm>
            <a:off x="0" y="0"/>
            <a:ext cx="12193200" cy="252000"/>
          </a:xfrm>
          <a:prstGeom prst="rect">
            <a:avLst/>
          </a:prstGeom>
          <a:solidFill>
            <a:srgbClr val="1B5E20"/>
          </a:solidFill>
        </p:spPr>
        <p:txBody>
          <a:bodyPr/>
          <a:lstStyle/>
          <a:p>
            <a:endParaRPr lang="en-US">
              <a:solidFill>
                <a:srgbClr val="1B5E20"/>
              </a:solidFill>
            </a:endParaRPr>
          </a:p>
        </p:txBody>
      </p:sp>
      <p:sp>
        <p:nvSpPr>
          <p:cNvPr id="100063" name="Label"/>
          <p:cNvSpPr txBox="1"/>
          <p:nvPr/>
        </p:nvSpPr>
        <p:spPr>
          <a:xfrm>
            <a:off x="540000" y="36000"/>
            <a:ext cx="5040000" cy="180000"/>
          </a:xfrm>
          <a:prstGeom prst="rect">
            <a:avLst/>
          </a:prstGeom>
        </p:spPr>
        <p:txBody>
          <a:bodyPr/>
          <a:lstStyle/>
          <a:p>
            <a:r>
              <a:rPr lang="en-US" sz="1000" b="1">
                <a:solidFill>
                  <a:srgbClr val="8BC34A"/>
                </a:solidFill>
              </a:rPr>
              <a:t>07  ABOUT INODESAIN</a:t>
            </a:r>
          </a:p>
        </p:txBody>
      </p:sp>
      <p:sp>
        <p:nvSpPr>
          <p:cNvPr id="100064" name="Title"/>
          <p:cNvSpPr txBox="1"/>
          <p:nvPr/>
        </p:nvSpPr>
        <p:spPr>
          <a:xfrm>
            <a:off x="540000" y="432000"/>
            <a:ext cx="10080000" cy="504000"/>
          </a:xfrm>
          <a:prstGeom prst="rect">
            <a:avLst/>
          </a:prstGeom>
        </p:spPr>
        <p:txBody>
          <a:bodyPr/>
          <a:lstStyle/>
          <a:p>
            <a:r>
              <a:rPr lang="en-US" sz="3200" b="1">
                <a:solidFill>
                  <a:srgbClr val="1B5E20"/>
                </a:solidFill>
              </a:rPr>
              <a:t>About Inodesain</a:t>
            </a:r>
          </a:p>
        </p:txBody>
      </p:sp>
      <p:sp>
        <p:nvSpPr>
          <p:cNvPr id="100065" name="Desc"/>
          <p:cNvSpPr txBox="1"/>
          <p:nvPr/>
        </p:nvSpPr>
        <p:spPr>
          <a:xfrm>
            <a:off x="540000" y="1044000"/>
            <a:ext cx="10800000" cy="396000"/>
          </a:xfrm>
          <a:prstGeom prst="rect">
            <a:avLst/>
          </a:prstGeom>
        </p:spPr>
        <p:txBody>
          <a:bodyPr/>
          <a:lstStyle/>
          <a:p>
            <a:r>
              <a:rPr lang="en-US" sz="1400">
                <a:solidFill>
                  <a:srgbClr val="444444"/>
                </a:solidFill>
              </a:rPr>
              <a:t>Long-established IBM Business Partner with deep roots in the Indonesian agrobusiness sector — delivering enterprise-grade technology to plantation, mining, and forestry companies.</a:t>
            </a:r>
          </a:p>
        </p:txBody>
      </p:sp>
      <p:sp>
        <p:nvSpPr>
          <p:cNvPr id="100066" name="T1"/>
          <p:cNvSpPr txBox="1"/>
          <p:nvPr/>
        </p:nvSpPr>
        <p:spPr>
          <a:xfrm>
            <a:off x="540000" y="1584000"/>
            <a:ext cx="10800000" cy="648000"/>
          </a:xfrm>
          <a:prstGeom prst="rect">
            <a:avLst/>
          </a:prstGeom>
          <a:solidFill>
            <a:srgbClr val="FFF8E1"/>
          </a:solidFill>
        </p:spPr>
        <p:txBody>
          <a:bodyPr/>
          <a:lstStyle/>
          <a:p>
            <a:r>
              <a:rPr lang="en-US" sz="1400">
                <a:solidFill>
                  <a:srgbClr val="78350F"/>
                </a:solidFill>
              </a:rPr>
              <a:t>2016 — IBM Indonesia Linux Challenge</a:t>
            </a:r>
          </a:p>
          <a:p>
            <a:r>
              <a:rPr lang="en-US" sz="1400">
                <a:solidFill>
                  <a:srgbClr val="78350F"/>
                </a:solidFill>
              </a:rPr>
              <a:t>2nd Place Winner — Professional Category</a:t>
            </a:r>
          </a:p>
          <a:p>
            <a:r>
              <a:rPr lang="en-US" sz="1400">
                <a:solidFill>
                  <a:srgbClr val="78350F"/>
                </a:solidFill>
              </a:rPr>
              <a:t>Competed against Indonesia's leading technology companies.</a:t>
            </a:r>
          </a:p>
        </p:txBody>
      </p:sp>
      <p:sp>
        <p:nvSpPr>
          <p:cNvPr id="100067" name="T2"/>
          <p:cNvSpPr txBox="1"/>
          <p:nvPr/>
        </p:nvSpPr>
        <p:spPr>
          <a:xfrm>
            <a:off x="540000" y="2376000"/>
            <a:ext cx="10800000" cy="648000"/>
          </a:xfrm>
          <a:prstGeom prst="rect">
            <a:avLst/>
          </a:prstGeom>
          <a:solidFill>
            <a:srgbClr val="E3F2FD"/>
          </a:solidFill>
        </p:spPr>
        <p:txBody>
          <a:bodyPr/>
          <a:lstStyle/>
          <a:p>
            <a:r>
              <a:rPr lang="en-US" sz="1400">
                <a:solidFill>
                  <a:srgbClr val="1E3A5F"/>
                </a:solidFill>
              </a:rPr>
              <a:t>2018 — IBM Global Solution Directory</a:t>
            </a:r>
          </a:p>
          <a:p>
            <a:r>
              <a:rPr lang="en-US" sz="1400">
                <a:solidFill>
                  <a:srgbClr val="1E3A5F"/>
                </a:solidFill>
              </a:rPr>
              <a:t>Inodesain's agrobusiness platform accepted — confirming enterprise-grade quality for IBM's worldwide client network.</a:t>
            </a:r>
          </a:p>
        </p:txBody>
      </p:sp>
      <p:sp>
        <p:nvSpPr>
          <p:cNvPr id="100068" name="T3"/>
          <p:cNvSpPr txBox="1"/>
          <p:nvPr/>
        </p:nvSpPr>
        <p:spPr>
          <a:xfrm>
            <a:off x="540000" y="3168000"/>
            <a:ext cx="10800000" cy="648000"/>
          </a:xfrm>
          <a:prstGeom prst="rect">
            <a:avLst/>
          </a:prstGeom>
          <a:solidFill>
            <a:srgbClr val="2E7D32"/>
          </a:solidFill>
        </p:spPr>
        <p:txBody>
          <a:bodyPr/>
          <a:lstStyle/>
          <a:p>
            <a:r>
              <a:rPr lang="en-US" sz="1400" dirty="0">
                <a:solidFill>
                  <a:srgbClr val="FFFFFF"/>
                </a:solidFill>
              </a:rPr>
              <a:t>2025 — IBM Bob Hackathon</a:t>
            </a:r>
          </a:p>
          <a:p>
            <a:r>
              <a:rPr lang="en-US" sz="1400" dirty="0" err="1">
                <a:solidFill>
                  <a:srgbClr val="FFFFFF"/>
                </a:solidFill>
              </a:rPr>
              <a:t>erpAgroSmart</a:t>
            </a:r>
            <a:r>
              <a:rPr lang="en-US" sz="1400" dirty="0">
                <a:solidFill>
                  <a:srgbClr val="FFFFFF"/>
                </a:solidFill>
              </a:rPr>
              <a:t>: a battle-tested plantation ERP, now supercharged with IBM Bob AI.</a:t>
            </a:r>
          </a:p>
        </p:txBody>
      </p:sp>
      <p:sp>
        <p:nvSpPr>
          <p:cNvPr id="100069" name="Vision"/>
          <p:cNvSpPr txBox="1"/>
          <p:nvPr/>
        </p:nvSpPr>
        <p:spPr>
          <a:xfrm>
            <a:off x="540000" y="3960000"/>
            <a:ext cx="10800000" cy="324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500" b="1">
                <a:solidFill>
                  <a:srgbClr val="1B5E20"/>
                </a:solidFill>
              </a:rPr>
              <a:t>Not a new product — a proven platform, supercharged with AI.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70" name="Title"/>
          <p:cNvSpPr txBox="1"/>
          <p:nvPr/>
        </p:nvSpPr>
        <p:spPr>
          <a:xfrm>
            <a:off x="1440000" y="792000"/>
            <a:ext cx="9000000" cy="90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4400" b="1" dirty="0" err="1">
                <a:solidFill>
                  <a:srgbClr val="FFFFFF"/>
                </a:solidFill>
              </a:rPr>
              <a:t>erpAgroSmart</a:t>
            </a:r>
            <a:r>
              <a:rPr lang="en-US" sz="4400" b="1" dirty="0">
                <a:solidFill>
                  <a:srgbClr val="FFFFFF"/>
                </a:solidFill>
              </a:rPr>
              <a:t> + IBM Bob</a:t>
            </a:r>
          </a:p>
        </p:txBody>
      </p:sp>
      <p:sp>
        <p:nvSpPr>
          <p:cNvPr id="100071" name="Sub"/>
          <p:cNvSpPr txBox="1"/>
          <p:nvPr/>
        </p:nvSpPr>
        <p:spPr>
          <a:xfrm>
            <a:off x="1440000" y="1836000"/>
            <a:ext cx="9000000" cy="432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800">
                <a:solidFill>
                  <a:srgbClr val="C8E6C9"/>
                </a:solidFill>
              </a:rPr>
              <a:t>GAPKI Compliant  |  Financially Transparent  |  Spatially Intelligent</a:t>
            </a:r>
          </a:p>
        </p:txBody>
      </p:sp>
      <p:sp>
        <p:nvSpPr>
          <p:cNvPr id="100072" name="Vision"/>
          <p:cNvSpPr txBox="1"/>
          <p:nvPr/>
        </p:nvSpPr>
        <p:spPr>
          <a:xfrm>
            <a:off x="1080000" y="2448000"/>
            <a:ext cx="9720000" cy="1152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400">
                <a:solidFill>
                  <a:srgbClr val="A5D6A7"/>
                </a:solidFill>
              </a:rPr>
              <a:t>Indonesia produces 60% of the world's palm oil. Helping its plantation managers operate at GAPKI standard, with full financial transparency and spatially-aware operations — through intelligent, affordable, and locally-grounded software — is not just a product opportunity. It is a national competitiveness imperative.</a:t>
            </a:r>
          </a:p>
        </p:txBody>
      </p:sp>
      <p:sp>
        <p:nvSpPr>
          <p:cNvPr id="100073" name="Footer"/>
          <p:cNvSpPr txBox="1"/>
          <p:nvPr/>
        </p:nvSpPr>
        <p:spPr>
          <a:xfrm>
            <a:off x="1080000" y="3744000"/>
            <a:ext cx="9720000" cy="288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200">
                <a:solidFill>
                  <a:srgbClr val="81C784"/>
                </a:solidFill>
              </a:rPr>
              <a:t>Built with IBM Bob  |  IBM Bob Hackathon 2025  |  Inodesain — IBM Business Partner  |  inodesain.com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1390</Words>
  <Application>Microsoft Office PowerPoint</Application>
  <PresentationFormat>Widescreen</PresentationFormat>
  <Paragraphs>119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OfficeCLI</dc:creator>
  <cp:lastModifiedBy>Susilo Rahayu</cp:lastModifiedBy>
  <cp:revision>2</cp:revision>
  <dcterms:created xsi:type="dcterms:W3CDTF">2026-09-24T15:41:29Z</dcterms:created>
  <dcterms:modified xsi:type="dcterms:W3CDTF">2026-09-25T04:31:20Z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1.0.152</vt:lpwstr>
  </property>
  <property fmtid="{D5CDD505-2E9C-101B-9397-08002B2CF9AE}" pid="3" name="OfficeCLI.LastModified">
    <vt:lpwstr>2026-09-24T15:45:04Z</vt:lpwstr>
  </property>
</Properties>
</file>